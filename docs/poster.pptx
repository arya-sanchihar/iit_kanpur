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9718000"/>
  <p:notesSz cx="297180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Times New Roman"/>
              </a:rPr>
              <a:t>Horizontal Motion (v_x)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SAD (on-device)</c:v>
                </c:pt>
              </c:strCache>
            </c:strRef>
          </c:tx>
          <c:spPr>
            <a:solidFill>
              <a:srgbClr val="3E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-2.1</c:v>
                </c:pt>
                <c:pt idx="1">
                  <c:v>-3.4</c:v>
                </c:pt>
                <c:pt idx="2">
                  <c:v>-1.2</c:v>
                </c:pt>
                <c:pt idx="3">
                  <c:v>-4</c:v>
                </c:pt>
                <c:pt idx="4">
                  <c:v>-2.8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Farneback (reference)</c:v>
                </c:pt>
              </c:strCache>
            </c:strRef>
          </c:tx>
          <c:spPr>
            <a:solidFill>
              <a:srgbClr val="B7C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-1.9</c:v>
                </c:pt>
                <c:pt idx="1">
                  <c:v>-3.1</c:v>
                </c:pt>
                <c:pt idx="2">
                  <c:v>-1.4</c:v>
                </c:pt>
                <c:pt idx="3">
                  <c:v>-3.7</c:v>
                </c:pt>
                <c:pt idx="4">
                  <c:v>-2.5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420624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371600" cy="1371600"/>
          </a:xfrm>
          <a:prstGeom prst="ellipse">
            <a:avLst/>
          </a:prstGeom>
          <a:solidFill>
            <a:srgbClr val="13273F"/>
          </a:solidFill>
          <a:ln w="19050">
            <a:solidFill>
              <a:srgbClr val="3E56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IITK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457200"/>
            <a:ext cx="30083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BATMAN-ADV MESH NETWORKING, DRONECAN-BASED ESC FIRMWARE &amp; SAD-BASED OPTICAL FLOW STABILIZATION ON LOW-COST EMBEDDED HARDWARE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3008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1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Arya Sanchihar (Roll No. S260036)  •  Dept. of Electronics &amp; Communication Engineering, IIT Kanpur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1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SURGE Intern, Department of Electrical Engineering, IIT Kanpur  •  Mentor: Prof. Ketan Rajawat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32918400" cy="100584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4663440"/>
            <a:ext cx="640080" cy="640080"/>
          </a:xfrm>
          <a:prstGeom prst="ellipse">
            <a:avLst/>
          </a:prstGeom>
          <a:solidFill>
            <a:srgbClr val="1F8A8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990320" y="4663440"/>
            <a:ext cx="640080" cy="640080"/>
          </a:xfrm>
          <a:prstGeom prst="ellipse">
            <a:avLst/>
          </a:prstGeom>
          <a:solidFill>
            <a:srgbClr val="C97A3B"/>
          </a:solidFill>
          <a:ln/>
        </p:spPr>
      </p:sp>
      <p:sp>
        <p:nvSpPr>
          <p:cNvPr id="11" name="Text 9"/>
          <p:cNvSpPr/>
          <p:nvPr/>
        </p:nvSpPr>
        <p:spPr>
          <a:xfrm>
            <a:off x="1481328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4323040" y="4663440"/>
            <a:ext cx="640080" cy="640080"/>
          </a:xfrm>
          <a:prstGeom prst="ellipse">
            <a:avLst/>
          </a:prstGeom>
          <a:solidFill>
            <a:srgbClr val="3E7A52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0" y="4480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0" y="4983480"/>
            <a:ext cx="7315200" cy="0"/>
          </a:xfrm>
          <a:prstGeom prst="line">
            <a:avLst/>
          </a:prstGeom>
          <a:noFill/>
          <a:ln w="15875">
            <a:solidFill>
              <a:srgbClr val="AAB4B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6824960" y="4983480"/>
            <a:ext cx="7315200" cy="0"/>
          </a:xfrm>
          <a:prstGeom prst="line">
            <a:avLst/>
          </a:prstGeom>
          <a:noFill/>
          <a:ln w="15875">
            <a:solidFill>
              <a:srgbClr val="AAB4B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5715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5715000"/>
            <a:ext cx="0" cy="1188720"/>
          </a:xfrm>
          <a:prstGeom prst="line">
            <a:avLst/>
          </a:prstGeom>
          <a:noFill/>
          <a:ln w="19050">
            <a:solidFill>
              <a:srgbClr val="C7C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5715000"/>
            <a:ext cx="2715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Battlefield communication cannot depend on centralized infrastructure that adversaries can target physically or through electronic warfare. A soldier-wearable platform instead needs infrastructure-independent networking, robust low-level actuation, and stabilized real-time vision — three complementary subsystems, developed and validated independently, presented together here.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0" y="7178040"/>
            <a:ext cx="3291840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7498080"/>
            <a:ext cx="1920240" cy="457200"/>
          </a:xfrm>
          <a:prstGeom prst="rect">
            <a:avLst/>
          </a:prstGeom>
          <a:solidFill>
            <a:srgbClr val="1F8A8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7498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8001000"/>
            <a:ext cx="1030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BATMAN-ADV MESH VIDEO NETWORK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" y="8458200"/>
            <a:ext cx="1030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Infrastructure-independent P2P streaming across Raspberry Pi nodes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9006840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9390888"/>
            <a:ext cx="10302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comms (cellular, fixed Wi-Fi APs) create a single point of failure in a contested environment. A soldier-worn camera and multi-Pi mesh must route peer-to-peer video and telemetry with no central control, gracefully handling nodes joining, leaving, or moving out of range.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10945368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11329416"/>
            <a:ext cx="1030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Layer-2 mesh: B.A.T.M.A.N.-Adv over ad-hoc wlan0, joined into a bat0 virtual-switch interface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Zero-config forwarding: Avahi mDNS link-local IPs — no DHCP server required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path: GStreamer producer/consumer, H.264 over RTP/UDP; GTK receiver; suppressed monitoring UI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Validated first in a 3-container Docker simulation, then on 3 physical Raspberry Pi nodes (Pi 4 + Pi 5) with on-node OSD displays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14575536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14959584"/>
            <a:ext cx="10302240" cy="2377440"/>
          </a:xfrm>
          <a:prstGeom prst="rect">
            <a:avLst/>
          </a:prstGeom>
          <a:solidFill>
            <a:srgbClr val="F4F6F7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4959584"/>
            <a:ext cx="10302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Mesh routing diagram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(Pi1–Pi6 nodes)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17474184"/>
            <a:ext cx="1030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Logical routing paths through mesh nodes &amp; interfaces, illustrating best-next-hop selection independent of centralized routing.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18297144"/>
            <a:ext cx="10302240" cy="169164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18406872"/>
            <a:ext cx="993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1520" y="18754344"/>
            <a:ext cx="9936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Operates at the data-link layer, not IP — the whole mesh presents as one virtual switch, so every node need only find its best next hop rather than compute a full path. Combined with DHCP-free Avahi addressing, this gives fully self-organizing, infrastructure-independent bring-up, with each node doubling as both a relay and a local display endpoint.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48640" y="20217384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GTK MONITORING UI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20601432"/>
            <a:ext cx="10302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custom GTK4 desktop client drives the GStreamer consumer pipeline (rtph264depay → avdec_h264 → gtksink) for live per-node video preview. Each Pi runs the matching producer pipeline (v4l2src → x264enc → rtph264pay → udpsink) that feeds the mesh.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21927312"/>
            <a:ext cx="10302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6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48640" y="21927312"/>
            <a:ext cx="1030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3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UI screenshot here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1308080" y="7498080"/>
            <a:ext cx="1920240" cy="457200"/>
          </a:xfrm>
          <a:prstGeom prst="rect">
            <a:avLst/>
          </a:prstGeom>
          <a:solidFill>
            <a:srgbClr val="C97A3B"/>
          </a:solidFill>
          <a:ln/>
        </p:spPr>
      </p:sp>
      <p:sp>
        <p:nvSpPr>
          <p:cNvPr id="40" name="Text 38"/>
          <p:cNvSpPr/>
          <p:nvPr/>
        </p:nvSpPr>
        <p:spPr>
          <a:xfrm>
            <a:off x="11308080" y="7498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308080" y="8001000"/>
            <a:ext cx="1030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DRONECAN-STAGED ESC FIRMWARE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1308080" y="8458200"/>
            <a:ext cx="1030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Sensorless BLDC control on STM32F303RET6 + DRV8353S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08080" y="9006840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1308080" y="9390888"/>
            <a:ext cx="10302240" cy="1737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compact actuator needs sensorless motor control with no Hall or encoder wiring, a standardized command bus (DroneCAN) for future flight-controller compatibility, onboard safety telemetry, and field-updatable firmware — all while Cortex-capable test hardware was not yet available during bring-up.</a:t>
            </a:r>
            <a:endParaRPr lang="en-US" sz="1180" dirty="0"/>
          </a:p>
        </p:txBody>
      </p:sp>
      <p:sp>
        <p:nvSpPr>
          <p:cNvPr id="45" name="Text 43"/>
          <p:cNvSpPr/>
          <p:nvPr/>
        </p:nvSpPr>
        <p:spPr>
          <a:xfrm>
            <a:off x="11308080" y="11265408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308080" y="11649456"/>
            <a:ext cx="10302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Platform: STM32F303RET6 (72 MHz) + DRV8353S 3-phase gate driver over SPI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Control: sensorless six-step trapezoidal commutation, zero-crossing detection, &gt;34 kHz PWM (ARR = 2099)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Staged command bus: PWM input → validated DroneCAN RawCommand via libcanard → pending hardware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Ramped apply_throttle() (RAMP_STEP = 3 counts/ms) with watchdog-driven safe-state cutoff on command timeout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1308080" y="13798296"/>
            <a:ext cx="10302240" cy="438912"/>
          </a:xfrm>
          <a:prstGeom prst="rect">
            <a:avLst/>
          </a:prstGeom>
          <a:solidFill>
            <a:srgbClr val="F4F6F7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399520" y="13798296"/>
            <a:ext cx="1011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Command (PWM / validated / CAN pending)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08080" y="14200632"/>
            <a:ext cx="1030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1308080" y="14328648"/>
            <a:ext cx="10302240" cy="438912"/>
          </a:xfrm>
          <a:prstGeom prst="rect">
            <a:avLst/>
          </a:prstGeom>
          <a:solidFill>
            <a:srgbClr val="F4F6F7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399520" y="14328648"/>
            <a:ext cx="1011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Watchdog Interval Check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308080" y="14730984"/>
            <a:ext cx="1030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1308080" y="14859000"/>
            <a:ext cx="10302240" cy="438912"/>
          </a:xfrm>
          <a:prstGeom prst="rect">
            <a:avLst/>
          </a:prstGeom>
          <a:solidFill>
            <a:srgbClr val="F4F6F7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399520" y="14859000"/>
            <a:ext cx="1011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6-Step Commutation via BEMF Zero-Cross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08080" y="15261336"/>
            <a:ext cx="1030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308080" y="15389352"/>
            <a:ext cx="10302240" cy="438912"/>
          </a:xfrm>
          <a:prstGeom prst="rect">
            <a:avLst/>
          </a:prstGeom>
          <a:solidFill>
            <a:srgbClr val="FCEEE0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399520" y="15389352"/>
            <a:ext cx="1011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Fault? → Safe State   |   OK → Report Telemetry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308080" y="16011144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1308080" y="16395192"/>
            <a:ext cx="10302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Throttle @ throttle = 40% (full-scale, 12-bit)</a:t>
            </a:r>
            <a:endParaRPr lang="en-US" sz="108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PWM out @ pwm_pulse_us = 1500 µs, confirmed via TIMx CCR1 → 1500-count pulse width</a:t>
            </a:r>
            <a:endParaRPr lang="en-US" sz="108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Switching @ &gt;34 kHz, 6-channel complementary gate drive</a:t>
            </a:r>
            <a:endParaRPr lang="en-US" sz="108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@ Overcurrent/Undervoltage/ADC checks → SPI driver fault reporting (fault injection testing pending)</a:t>
            </a:r>
            <a:endParaRPr lang="en-US" sz="1080" dirty="0"/>
          </a:p>
        </p:txBody>
      </p:sp>
      <p:sp>
        <p:nvSpPr>
          <p:cNvPr id="60" name="Text 58"/>
          <p:cNvSpPr/>
          <p:nvPr/>
        </p:nvSpPr>
        <p:spPr>
          <a:xfrm>
            <a:off x="11308080" y="18361152"/>
            <a:ext cx="1030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Input-capture end-to-end mapping confirmed correct on real hardware; full six-step commutation and safety control loop are functionally complete on the Nucleo-64 board.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11308080" y="19138392"/>
            <a:ext cx="10302240" cy="169164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62" name="Text 60"/>
          <p:cNvSpPr/>
          <p:nvPr/>
        </p:nvSpPr>
        <p:spPr>
          <a:xfrm>
            <a:off x="11490960" y="19248120"/>
            <a:ext cx="993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1490960" y="19595592"/>
            <a:ext cx="9936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staged bring-up architecture lets the safety and commutation logic get proven end-to-end on real hardware entirely decoupled from CAN bus availability — the same firmware core swaps its command source (PWM → DroneCAN) without touching the validated commutation or watchdog logic.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22067520" y="7498080"/>
            <a:ext cx="1920240" cy="457200"/>
          </a:xfrm>
          <a:prstGeom prst="rect">
            <a:avLst/>
          </a:prstGeom>
          <a:solidFill>
            <a:srgbClr val="3E7A52"/>
          </a:solidFill>
          <a:ln/>
        </p:spPr>
      </p:sp>
      <p:sp>
        <p:nvSpPr>
          <p:cNvPr id="65" name="Text 63"/>
          <p:cNvSpPr/>
          <p:nvPr/>
        </p:nvSpPr>
        <p:spPr>
          <a:xfrm>
            <a:off x="22067520" y="7498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2067520" y="8001000"/>
            <a:ext cx="1030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SAD OPTICAL FLOW + EIS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22067520" y="8458200"/>
            <a:ext cx="1030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adjacent stabilization on a 64 KB RAM Cortex-M4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22067520" y="9006840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2067520" y="9390888"/>
            <a:ext cx="10302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optical flow (Lucas-Kanade, Horn-Schunck) needs iterative solving and heavy CPU/RAM — infeasible on a Cortex-M4 with 64 KB RAM and no hardware float throughput. A stabilized real-time feed still needs reliable per-frame motion estimation on this hardware.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22067520" y="10945368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22067520" y="11329416"/>
            <a:ext cx="1030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SAD block-matching, integer-only, accelerated with Cortex-M4 SIMD (4 abs-diffs/cycle)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Pipeline: variance-based low-texture rejection → full-search SAD → histogram outlier filter → subpixel parabolic refinement → 2D Kalman smoothing → EIS crop-correction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Benchmarked on STM32F303RE (Nucleo-64) against the MPI-Sintel dataset (Middlebury "Army" had insufficient motion for reliable detection)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Compiler opt: -O2, reduced search radius (ρ = 6) and variance threshold (50 → 15) tuned for the 64 KB RAM budget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22067520" y="14575536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11 FRAME PAIRS (MPI-SINTEL)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22067520" y="14959584"/>
            <a:ext cx="3312160" cy="10515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74" name="Text 72"/>
          <p:cNvSpPr/>
          <p:nvPr/>
        </p:nvSpPr>
        <p:spPr>
          <a:xfrm>
            <a:off x="22067520" y="15032736"/>
            <a:ext cx="331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19.6 FPS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22140672" y="15489936"/>
            <a:ext cx="3165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frame rate (95% C.I.)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25562560" y="14959584"/>
            <a:ext cx="3312160" cy="10515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77" name="Text 75"/>
          <p:cNvSpPr/>
          <p:nvPr/>
        </p:nvSpPr>
        <p:spPr>
          <a:xfrm>
            <a:off x="25562560" y="15032736"/>
            <a:ext cx="331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51.2 ms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25635712" y="15489936"/>
            <a:ext cx="3165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frame time (95% C.I.)</a:t>
            </a:r>
            <a:endParaRPr lang="en-US" sz="880" dirty="0"/>
          </a:p>
        </p:txBody>
      </p:sp>
      <p:sp>
        <p:nvSpPr>
          <p:cNvPr id="79" name="Shape 77"/>
          <p:cNvSpPr/>
          <p:nvPr/>
        </p:nvSpPr>
        <p:spPr>
          <a:xfrm>
            <a:off x="29057600" y="14959584"/>
            <a:ext cx="3312160" cy="10515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80" name="Text 78"/>
          <p:cNvSpPr/>
          <p:nvPr/>
        </p:nvSpPr>
        <p:spPr>
          <a:xfrm>
            <a:off x="29057600" y="15032736"/>
            <a:ext cx="331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29130752" y="15489936"/>
            <a:ext cx="3165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 blocks (ρ/θ), mean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22067520" y="16148304"/>
            <a:ext cx="10302240" cy="64008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83" name="Text 81"/>
          <p:cNvSpPr/>
          <p:nvPr/>
        </p:nvSpPr>
        <p:spPr>
          <a:xfrm>
            <a:off x="22067520" y="16175736"/>
            <a:ext cx="1030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7A5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66.5 / 100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22067520" y="16514064"/>
            <a:ext cx="1030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Pixel coincidence score (mean)</a:t>
            </a:r>
            <a:endParaRPr lang="en-US" sz="880" dirty="0"/>
          </a:p>
        </p:txBody>
      </p:sp>
      <p:graphicFrame>
        <p:nvGraphicFramePr>
          <p:cNvPr id="85" name="Chart 0" descr=""/>
          <p:cNvGraphicFramePr/>
          <p:nvPr/>
        </p:nvGraphicFramePr>
        <p:xfrm>
          <a:off x="22067520" y="16925544"/>
          <a:ext cx="10302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6" name="Text 83"/>
          <p:cNvSpPr/>
          <p:nvPr/>
        </p:nvSpPr>
        <p:spPr>
          <a:xfrm>
            <a:off x="22067520" y="18800064"/>
            <a:ext cx="1030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60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On-device SAD motion estimate vs. Farneback dense optical-flow reference, per frame pair.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22067520" y="19348704"/>
            <a:ext cx="10302240" cy="169164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88" name="Text 85"/>
          <p:cNvSpPr/>
          <p:nvPr/>
        </p:nvSpPr>
        <p:spPr>
          <a:xfrm>
            <a:off x="22250400" y="19458432"/>
            <a:ext cx="993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</a:t>
            </a:r>
            <a:endParaRPr lang="en-US" sz="1150" dirty="0"/>
          </a:p>
        </p:txBody>
      </p:sp>
      <p:sp>
        <p:nvSpPr>
          <p:cNvPr id="89" name="Text 86"/>
          <p:cNvSpPr/>
          <p:nvPr/>
        </p:nvSpPr>
        <p:spPr>
          <a:xfrm>
            <a:off x="22250400" y="19805904"/>
            <a:ext cx="9936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a complete 6-stage optical-flow + EIS pipeline — not just raw block matching — at a sustained ~19.6 FPS entirely on a sub-$10-class MCU, with SIMD-accelerated integer SAD replacing a dense float solver and search-radius/variance tuning trading a small, quantified accuracy margin for throughput headroom under a hard 64 KB RAM ceiling.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0" y="24441912"/>
            <a:ext cx="3291840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48640" y="24716232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INTEGRATION &amp; CONCLUSION</a:t>
            </a:r>
            <a:endParaRPr lang="en-US" sz="1300" dirty="0"/>
          </a:p>
        </p:txBody>
      </p:sp>
      <p:sp>
        <p:nvSpPr>
          <p:cNvPr id="92" name="Text 89"/>
          <p:cNvSpPr/>
          <p:nvPr/>
        </p:nvSpPr>
        <p:spPr>
          <a:xfrm>
            <a:off x="548640" y="25127712"/>
            <a:ext cx="1030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Though developed and tested largely independently, the three subsystems form complementary layers of one soldier-wearable platform: mesh comms for infrastructure-free video/telemetry, ESC firmware for low-level actuation, and SAD-based EIS for stabilized vision. The consistent lesson across all three: decouple a subsystem's core logic from hardware or infrastructure that may be temporarily unavailable — Docker-simulated mesh nodes standing in for physical hardware, and a validated PWM path standing in for DroneCAN while CAN-capable test hardware was unavailable — so development stays productive without hardware in hand.</a:t>
            </a:r>
            <a:endParaRPr lang="en-US" sz="1150" dirty="0"/>
          </a:p>
        </p:txBody>
      </p:sp>
      <p:sp>
        <p:nvSpPr>
          <p:cNvPr id="93" name="Text 90"/>
          <p:cNvSpPr/>
          <p:nvPr/>
        </p:nvSpPr>
        <p:spPr>
          <a:xfrm>
            <a:off x="11308080" y="24716232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94" name="Text 91"/>
          <p:cNvSpPr/>
          <p:nvPr/>
        </p:nvSpPr>
        <p:spPr>
          <a:xfrm>
            <a:off x="11308080" y="25127712"/>
            <a:ext cx="1030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DroneCAN RawCommand validation for motor drive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Multi-node mesh field testing under realistic RF interference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 ESC control from six-step to field-oriented control (FOC)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5–10 km soldier-node hops via directional / sub-GHz radios with multi-hop batman-adv relay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22067520" y="24716232"/>
            <a:ext cx="1030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96" name="Text 93"/>
          <p:cNvSpPr/>
          <p:nvPr/>
        </p:nvSpPr>
        <p:spPr>
          <a:xfrm>
            <a:off x="22067520" y="25127712"/>
            <a:ext cx="1030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A. Neumann, C. Aichele, M. Lindner, S. Wunderlich, "Better Approach to Mobile Ad-hoc Networking (B.A.T.M.A.N.)," IETF Internet Draft, Mar. 2008.</a:t>
            </a:r>
            <a:endParaRPr lang="en-US" sz="88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L. Lin, J. Liu, H. Qian, J. Zhu, "Performance Evaluation of BATMAN-Adv Wireless Mesh Network Routing Algorithms," CSCloud/EdgeCom, 2018, pp. 122–127.</a:t>
            </a:r>
            <a:endParaRPr lang="en-US" sz="88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"Multi-link-optimize," B.A.T.M.A.N. Advanced Wiki, Open Mesh.</a:t>
            </a:r>
            <a:endParaRPr lang="en-US" sz="88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PX4/Zubax, "Sapog ESC Firmware," PX4 Guide — DroneCAN Documentation.</a:t>
            </a:r>
            <a:endParaRPr lang="en-US" sz="88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AlibAliMoses, "AM32-MultiRotor-ESC-firmware," GitHub repository.</a:t>
            </a:r>
            <a:endParaRPr lang="en-US" sz="88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A. Garcia-Dopico, J. L. Pedraza, M. Nieto, A. Perez, S. Rodriguez, J. Nava, "Parallelization of the optical flow computation in sequences from moving cameras," EURASIP J. Image and Video Processing, vol. 2014, art. 18, 2014.</a:t>
            </a:r>
            <a:endParaRPr lang="en-US" sz="88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J. Butles, J. Wulff, G. B. Stanley, M. J. Black, "A naturalistic open source movie for optical flow evaluation," ECCV, 2012, pp. 611–625.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BATMAN-Adv Mesh Networking, DroneCAN ESC Firmware &amp; SAD Optical Flow</dc:title>
  <dc:subject>PptxGenJS Presentation</dc:subject>
  <dc:creator>Arya Sanchihar</dc:creator>
  <cp:lastModifiedBy>Arya Sanchihar</cp:lastModifiedBy>
  <cp:revision>1</cp:revision>
  <dcterms:created xsi:type="dcterms:W3CDTF">2026-07-06T06:19:14Z</dcterms:created>
  <dcterms:modified xsi:type="dcterms:W3CDTF">2026-07-06T06:19:14Z</dcterms:modified>
</cp:coreProperties>
</file>